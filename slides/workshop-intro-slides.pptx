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554480"/>
            <a:ext cx="4206240" cy="4206240"/>
          </a:xfrm>
          <a:prstGeom prst="ellipse">
            <a:avLst/>
          </a:prstGeom>
          <a:solidFill>
            <a:srgbClr val="0E3A55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023360"/>
            <a:ext cx="3108960" cy="3108960"/>
          </a:xfrm>
          <a:prstGeom prst="ellipse">
            <a:avLst/>
          </a:prstGeom>
          <a:solidFill>
            <a:srgbClr val="0B324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DEVICE SECURITY WORKSHOP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Modeling a Medical Device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58368" y="36118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D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threat modeling of the NeuroScan 3000 — a hybrid cloud + on-premise imaging system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58368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 MITRE Playbook for Threat Modeling Medical Devices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THREAT MODEL A MEDICAL DEVICE?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stakes are uniquely high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1691640"/>
          </a:xfrm>
          <a:prstGeom prst="roundRect">
            <a:avLst>
              <a:gd name="adj" fmla="val 4865"/>
            </a:avLst>
          </a:prstGeom>
          <a:solidFill>
            <a:srgbClr val="EAF3F5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4708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18105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2304288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compromised device can directly harm patients — a wrong diagnosis acted on, or care denied in an emergency.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355080" y="1554480"/>
            <a:ext cx="5486400" cy="1691640"/>
          </a:xfrm>
          <a:prstGeom prst="roundRect">
            <a:avLst>
              <a:gd name="adj" fmla="val 4865"/>
            </a:avLst>
          </a:prstGeom>
          <a:solidFill>
            <a:srgbClr val="EAF3F5"/>
          </a:solidFill>
          <a:ln/>
        </p:spPr>
      </p:sp>
      <p:sp>
        <p:nvSpPr>
          <p:cNvPr id="9" name="Shape 7"/>
          <p:cNvSpPr/>
          <p:nvPr/>
        </p:nvSpPr>
        <p:spPr>
          <a:xfrm>
            <a:off x="6629400" y="184708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7269480" y="18105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Ransomware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269480" y="2304288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on hospitals have demonstrably delayed care and put patients at risk.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5486400" cy="1691640"/>
          </a:xfrm>
          <a:prstGeom prst="roundRect">
            <a:avLst>
              <a:gd name="adj" fmla="val 4865"/>
            </a:avLst>
          </a:prstGeom>
          <a:solidFill>
            <a:srgbClr val="EAF3F5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38130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1463040" y="377647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63040" y="4270248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records are among the most valuable records on the black market.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355080" y="3520440"/>
            <a:ext cx="5486400" cy="1691640"/>
          </a:xfrm>
          <a:prstGeom prst="roundRect">
            <a:avLst>
              <a:gd name="adj" fmla="val 4865"/>
            </a:avLst>
          </a:prstGeom>
          <a:solidFill>
            <a:srgbClr val="EAF3F5"/>
          </a:solidFill>
          <a:ln/>
        </p:spPr>
      </p:sp>
      <p:sp>
        <p:nvSpPr>
          <p:cNvPr id="17" name="Shape 15"/>
          <p:cNvSpPr/>
          <p:nvPr/>
        </p:nvSpPr>
        <p:spPr>
          <a:xfrm>
            <a:off x="6629400" y="38130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7269480" y="377647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law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269480" y="4270248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2023, cybersecurity is a statutory FDA requirement — not optional.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modeling answers four questions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1783080"/>
          </a:xfrm>
          <a:prstGeom prst="roundRect">
            <a:avLst>
              <a:gd name="adj" fmla="val 4615"/>
            </a:avLst>
          </a:prstGeom>
          <a:solidFill>
            <a:srgbClr val="F4F9FA"/>
          </a:solidFill>
          <a:ln w="12700">
            <a:solidFill>
              <a:srgbClr val="D6E7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911096"/>
            <a:ext cx="658368" cy="6583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110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91640" y="1911096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we working on?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691640" y="262432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the system — assets, entry points, and who might attack it.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55080" y="1600200"/>
            <a:ext cx="5486400" cy="1783080"/>
          </a:xfrm>
          <a:prstGeom prst="roundRect">
            <a:avLst>
              <a:gd name="adj" fmla="val 4615"/>
            </a:avLst>
          </a:prstGeom>
          <a:solidFill>
            <a:srgbClr val="F4F9FA"/>
          </a:solidFill>
          <a:ln w="12700">
            <a:solidFill>
              <a:srgbClr val="D6E7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47688" y="1911096"/>
            <a:ext cx="658368" cy="6583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6647688" y="19110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498080" y="1911096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can go wrong?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98080" y="262432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threats as attacker stories, then assess their risk.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3675888"/>
            <a:ext cx="5486400" cy="1783080"/>
          </a:xfrm>
          <a:prstGeom prst="roundRect">
            <a:avLst>
              <a:gd name="adj" fmla="val 4615"/>
            </a:avLst>
          </a:prstGeom>
          <a:solidFill>
            <a:srgbClr val="F4F9FA"/>
          </a:solidFill>
          <a:ln w="12700">
            <a:solidFill>
              <a:srgbClr val="D6E7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3986784"/>
            <a:ext cx="658368" cy="6583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98678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91640" y="3986784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we going to do about it?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691640" y="4700016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concrete mitigations and controls.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355080" y="3675888"/>
            <a:ext cx="5486400" cy="1783080"/>
          </a:xfrm>
          <a:prstGeom prst="roundRect">
            <a:avLst>
              <a:gd name="adj" fmla="val 4615"/>
            </a:avLst>
          </a:prstGeom>
          <a:solidFill>
            <a:srgbClr val="F4F9FA"/>
          </a:solidFill>
          <a:ln w="12700">
            <a:solidFill>
              <a:srgbClr val="D6E7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47688" y="3986784"/>
            <a:ext cx="658368" cy="6583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647688" y="398678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98080" y="3986784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Did we do a good job?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498080" y="4700016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completeness, present, and find the gaps.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IT SECURITY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medical devices different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548640"/>
          </a:xfrm>
          <a:prstGeom prst="roundRect">
            <a:avLst>
              <a:gd name="adj" fmla="val 8333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00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383280" y="16002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IT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0" y="16002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Devices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11064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E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48840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risk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383280" y="2148840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breach, downtime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498080" y="2148840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harm, misdiagnosis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2898648"/>
            <a:ext cx="11064240" cy="749808"/>
          </a:xfrm>
          <a:prstGeom prst="rect">
            <a:avLst/>
          </a:prstGeom>
          <a:solidFill>
            <a:srgbClr val="F4F9FA"/>
          </a:solidFill>
          <a:ln w="12700">
            <a:solidFill>
              <a:srgbClr val="E3EE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898648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383280" y="2898648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498080" y="2898648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life-critical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648456"/>
            <a:ext cx="11064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E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648456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383280" y="3648456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/ monthly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498080" y="3648456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12–18 months (clearance)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4398264"/>
            <a:ext cx="11064240" cy="749808"/>
          </a:xfrm>
          <a:prstGeom prst="rect">
            <a:avLst/>
          </a:prstGeom>
          <a:solidFill>
            <a:srgbClr val="F4F9FA"/>
          </a:solidFill>
          <a:ln w="12700">
            <a:solidFill>
              <a:srgbClr val="E3EE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398264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3383280" y="4398264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GDPR, CCPA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498080" y="4398264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FDA, EU MDR, IEC 81001-5-1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548640" y="5148072"/>
            <a:ext cx="11064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E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148072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3383280" y="5148072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Opportunistic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498080" y="5148072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nation-states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SCENARIO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NeuroScan 3000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MRI-based neurological imaging system. Part sits in the hospital; part runs in the cloud. You will threat model the whole system.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66928" y="2606040"/>
            <a:ext cx="6766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 unit + acquisition workstation (on-prem)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DICOM server (on-prem)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AI diagnostic service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vendor support channel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EMR — a partially-trusted dependency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1554480"/>
            <a:ext cx="3840480" cy="4206240"/>
          </a:xfrm>
          <a:prstGeom prst="roundRect">
            <a:avLst>
              <a:gd name="adj" fmla="val 2381"/>
            </a:avLst>
          </a:prstGeom>
          <a:solidFill>
            <a:srgbClr val="EAF3F5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001000" y="2057400"/>
            <a:ext cx="338328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01000" y="2057400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 unit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01000" y="2715768"/>
            <a:ext cx="338328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01000" y="2715768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workstation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01000" y="3374136"/>
            <a:ext cx="338328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01000" y="3374136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DICOM server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692640" y="4114800"/>
            <a:ext cx="0" cy="320040"/>
          </a:xfrm>
          <a:prstGeom prst="line">
            <a:avLst/>
          </a:prstGeom>
          <a:noFill/>
          <a:ln w="19050">
            <a:solidFill>
              <a:srgbClr val="5F728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7955280" y="4480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01000" y="4800600"/>
            <a:ext cx="3383280" cy="777240"/>
          </a:xfrm>
          <a:prstGeom prst="roundRect">
            <a:avLst>
              <a:gd name="adj" fmla="val 7059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8001000" y="48006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AI diagnostic service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TWO HOURS RUN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of show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07253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148840" y="1536192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0" y="1536192"/>
            <a:ext cx="4480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medical device security — and the scenario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04288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07253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0428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148840" y="2286000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 · What are we working on?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0" y="2286000"/>
            <a:ext cx="4480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assets, entry points, actors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054096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07253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054096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148840" y="3035808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 · What can go wrong?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315200" y="3035808"/>
            <a:ext cx="4480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stories + risk scoring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803904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07253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80390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148840" y="3785616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 · What will we do about it?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315200" y="3785616"/>
            <a:ext cx="4480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Mitigations and trade-offs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553712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07253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55371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20m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148840" y="4535424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 · Did we do a good job?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315200" y="4535424"/>
            <a:ext cx="4480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+ group presentations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5303520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07253A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3035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10m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2148840" y="5285232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Debrief &amp; wrap-up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315200" y="5285232"/>
            <a:ext cx="4480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missed, and what's next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RULES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we'll work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1737360"/>
          </a:xfrm>
          <a:prstGeom prst="roundRect">
            <a:avLst>
              <a:gd name="adj" fmla="val 4737"/>
            </a:avLst>
          </a:prstGeom>
          <a:solidFill>
            <a:srgbClr val="EAF3F5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5623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groups of 3–5. Different views make a better model.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55080" y="1600200"/>
            <a:ext cx="5486400" cy="1737360"/>
          </a:xfrm>
          <a:prstGeom prst="roundRect">
            <a:avLst>
              <a:gd name="adj" fmla="val 4737"/>
            </a:avLst>
          </a:prstGeom>
          <a:solidFill>
            <a:srgbClr val="EAF3F5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0" y="185623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template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675120" y="23774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shared worksheet as you go through Q1–Q4.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630168"/>
            <a:ext cx="5486400" cy="1737360"/>
          </a:xfrm>
          <a:prstGeom prst="roundRect">
            <a:avLst>
              <a:gd name="adj" fmla="val 4737"/>
            </a:avLst>
          </a:prstGeom>
          <a:solidFill>
            <a:srgbClr val="EAF3F5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886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 specific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8680" y="440740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threats and vague fixes don't help. Name the component.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55080" y="3630168"/>
            <a:ext cx="5486400" cy="1737360"/>
          </a:xfrm>
          <a:prstGeom prst="roundRect">
            <a:avLst>
              <a:gd name="adj" fmla="val 4737"/>
            </a:avLst>
          </a:prstGeom>
          <a:solidFill>
            <a:srgbClr val="EAF3F5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3886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feedback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675120" y="440740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template at the end — an AI evaluator gives written feedback.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2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280160"/>
            <a:ext cx="3474720" cy="3474720"/>
          </a:xfrm>
          <a:prstGeom prst="ellipse">
            <a:avLst/>
          </a:prstGeom>
          <a:solidFill>
            <a:srgbClr val="0E3A55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868680" cy="8686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737360" y="566928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we working on?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1691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shared map of the system before you hunt for threats.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" y="2697480"/>
            <a:ext cx="10607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what's in scope — and what's out (and why).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assets worth protecting; mark each C, I, or A.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entry points — every door data or commands come through.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threat actors — insiders, ransomware, nation-states, vendors.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REFERENCE · LEAVE THIS UP WHILE YOU 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 · Example &amp; what the FDA expects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5486400" cy="4709160"/>
          </a:xfrm>
          <a:prstGeom prst="roundRect">
            <a:avLst>
              <a:gd name="adj" fmla="val 1553"/>
            </a:avLst>
          </a:prstGeom>
          <a:solidFill>
            <a:srgbClr val="EAF3F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556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— scope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41248" y="2359152"/>
            <a:ext cx="49194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scope: imaging unit + firmware, acquisition workstation, local DICOM server, cloud AI service, update delivery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scope: hospital EMR (partially trusted); hospital network (threat boundary)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A-01: patient DICOM images (PHI) — Confidentiality + Integrity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point: remote support (VPN + SSH, shared credential) — HIGH RISK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55080" y="1536192"/>
            <a:ext cx="5285232" cy="4709160"/>
          </a:xfrm>
          <a:prstGeom prst="roundRect">
            <a:avLst>
              <a:gd name="adj" fmla="val 1553"/>
            </a:avLst>
          </a:prstGeom>
          <a:solidFill>
            <a:srgbClr val="F0F5F9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29400" y="178308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0" y="1755648"/>
            <a:ext cx="4279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FDA expects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47688" y="2404872"/>
            <a:ext cx="4700016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the whole medical device system — device + cloud + interoperable parts (§V.A.3)</a:t>
            </a:r>
            <a:endParaRPr lang="en-US" sz="13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third-party / COTS components now — they become your SBOM (§524B(b)(3))</a:t>
            </a:r>
            <a:endParaRPr lang="en-US" sz="13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assets &amp; entry points stable IDs — the anchor for later traceability</a:t>
            </a:r>
            <a:endParaRPr lang="en-US" sz="13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flag: a boundary drawn around the device only, ignoring the cloud service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2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868680" cy="8686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737360" y="566928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can go wrong?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58368" y="16459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like an attacker. Write ATTACKER STORIES.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468880"/>
            <a:ext cx="10515600" cy="1554480"/>
          </a:xfrm>
          <a:prstGeom prst="roundRect">
            <a:avLst>
              <a:gd name="adj" fmla="val 7059"/>
            </a:avLst>
          </a:prstGeom>
          <a:solidFill>
            <a:srgbClr val="0E3A55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468880"/>
            <a:ext cx="9966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BFE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a </a:t>
            </a:r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[bad actor]</a:t>
            </a:r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BFE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I want to </a:t>
            </a:r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[do something bad]</a:t>
            </a:r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BFE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via </a:t>
            </a:r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[method]</a:t>
            </a:r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BFE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so that </a:t>
            </a:r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[goal].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42519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D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As a rogue vendor technician, I want to change the AI model via the remote support channel, so that the system returns false negatives and patients are misdiagnosed.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5394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at least 8 stories across different parts of the system.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each story's impact type — S = patient safety · P = privacy/PHI · A = availability.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· CONTINUED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score each story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2331720"/>
          </a:xfrm>
          <a:prstGeom prst="roundRect">
            <a:avLst>
              <a:gd name="adj" fmla="val 3529"/>
            </a:avLst>
          </a:prstGeom>
          <a:solidFill>
            <a:srgbClr val="EAF3F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642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Exploitability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feasible is the attack?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Low — rare access / high skill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Moderate — remote, known flaw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High — trivial, public exploit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60520" y="224028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F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4754880" y="1554480"/>
            <a:ext cx="3566160" cy="2331720"/>
          </a:xfrm>
          <a:prstGeom prst="roundRect">
            <a:avLst>
              <a:gd name="adj" fmla="val 3529"/>
            </a:avLst>
          </a:prstGeom>
          <a:solidFill>
            <a:srgbClr val="EAF3F5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6642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Severity of harm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93776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· privacy · availability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237744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Minor — no real harm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Significant — delay, breach, downtime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Serious — patient harm or major breach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0" y="1554480"/>
            <a:ext cx="2926080" cy="2331720"/>
          </a:xfrm>
          <a:prstGeom prst="roundRect">
            <a:avLst>
              <a:gd name="adj" fmla="val 3529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8869680" y="16642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869680" y="2011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D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exploitability × severity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9680" y="2377440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 Low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 Medium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6–9  High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DECEC"/>
          </a:solidFill>
          <a:ln w="12700">
            <a:solidFill>
              <a:srgbClr val="E5A6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2976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2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safety rule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47091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story could directly harm a patient — wrong diagnosis acted on, device down in an emergency — mark it HIGH regardless of the score, and note why.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real engagement, teams layer STRIDE (systematic threat enumeration) and CVSS (standardized scoring, adapted for patient-safety severity) on top of this teaching scale.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REFERENCE · LEAVE THIS UP WHILE YOU 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 · Example &amp; what the FDA expects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5486400" cy="4709160"/>
          </a:xfrm>
          <a:prstGeom prst="roundRect">
            <a:avLst>
              <a:gd name="adj" fmla="val 1553"/>
            </a:avLst>
          </a:prstGeom>
          <a:solidFill>
            <a:srgbClr val="EAF3F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556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— a scored threat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41248" y="2359152"/>
            <a:ext cx="49194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T-04 (Elevation of privilege): brute-force the no-MFA admin console on the hospital LAN → full workstation control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Exploitability 3 (no MFA, no rate-limit) × Severity 3 (full compromise) = 9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Patient-safety override: Yes → High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 is about exploitability — how feasible — not the odds of an attack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55080" y="1536192"/>
            <a:ext cx="5285232" cy="4709160"/>
          </a:xfrm>
          <a:prstGeom prst="roundRect">
            <a:avLst>
              <a:gd name="adj" fmla="val 1553"/>
            </a:avLst>
          </a:prstGeom>
          <a:solidFill>
            <a:srgbClr val="F0F5F9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29400" y="178308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0" y="1755648"/>
            <a:ext cx="4279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FDA expects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47688" y="2404872"/>
            <a:ext cx="4700016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security risk on exploitability, not probability — not the ISO 14971 approach</a:t>
            </a:r>
            <a:endParaRPr lang="en-US" sz="13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severity-of-patient-harm axis → a controlled / uncontrolled call</a:t>
            </a:r>
            <a:endParaRPr lang="en-US" sz="13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patient-safety override can outrank the numeric score</a:t>
            </a:r>
            <a:endParaRPr lang="en-US" sz="13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risk scales independently of software / safety risk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2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280160"/>
            <a:ext cx="3474720" cy="3474720"/>
          </a:xfrm>
          <a:prstGeom prst="ellipse">
            <a:avLst/>
          </a:prstGeom>
          <a:solidFill>
            <a:srgbClr val="0E3A55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868680" cy="8686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737360" y="566928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we going to do about it?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1691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high-priority threat, define at least one concrete mitigation.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" y="2697480"/>
            <a:ext cx="10607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· Detective · Corrective · Compensating — pick the right kind.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specific: not "add encryption" but "enable TLS on the DICOM link."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the residual risk that remains after the fix.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regulatory impact — could a change need a new FDA submission?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REFERENCE · LEAVE THIS UP WHILE YOU 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 · Example &amp; what the FDA expects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5486400" cy="4709160"/>
          </a:xfrm>
          <a:prstGeom prst="roundRect">
            <a:avLst>
              <a:gd name="adj" fmla="val 1553"/>
            </a:avLst>
          </a:prstGeom>
          <a:solidFill>
            <a:srgbClr val="EAF3F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556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— a mitigation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41248" y="2359152"/>
            <a:ext cx="49194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M-01 addresses T-04 &amp; T-07 — type: Preventive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TOTP MFA on the admin console; replace the shared support credential with per-engineer PKI certs; rate-limit logins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risk: credential theft still possible if the device is already compromised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note: software change only — likely no new clearance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55080" y="1536192"/>
            <a:ext cx="5285232" cy="4709160"/>
          </a:xfrm>
          <a:prstGeom prst="roundRect">
            <a:avLst>
              <a:gd name="adj" fmla="val 1553"/>
            </a:avLst>
          </a:prstGeom>
          <a:solidFill>
            <a:srgbClr val="F0F5F9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29400" y="178308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0" y="1755648"/>
            <a:ext cx="4279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FDA expects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47688" y="2404872"/>
            <a:ext cx="4700016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assessment consumes the threat model; controls are evaluated against threats (§V.A.2)</a:t>
            </a:r>
            <a:endParaRPr lang="en-US" sz="13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pre- and post-mitigation (residual) risk, with acceptance criteria</a:t>
            </a:r>
            <a:endParaRPr lang="en-US" sz="13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let a security control create a new safety risk — the safety ↔ security interface</a:t>
            </a:r>
            <a:endParaRPr lang="en-US" sz="13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scoring method, not just the numbers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2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280160"/>
            <a:ext cx="3474720" cy="3474720"/>
          </a:xfrm>
          <a:prstGeom prst="ellipse">
            <a:avLst/>
          </a:prstGeom>
          <a:solidFill>
            <a:srgbClr val="0E3A55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868680" cy="8686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737360" y="566928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Did we do a good job?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1691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threat model only has value if it's honest and complete.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" y="2697480"/>
            <a:ext cx="10607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completeness checklist in your template.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your top 3 threats, your most surprising find, your hardest trade-off.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groups: ask "did you consider…?" — the goal is to find gaps.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outcome is another group spotting something you missed.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REFERENCE · LEAVE THIS UP WHILE YOU 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 · Example &amp; what the FDA expects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5486400" cy="4709160"/>
          </a:xfrm>
          <a:prstGeom prst="roundRect">
            <a:avLst>
              <a:gd name="adj" fmla="val 1553"/>
            </a:avLst>
          </a:prstGeom>
          <a:solidFill>
            <a:srgbClr val="EAF3F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556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— review &amp; lifecycle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41248" y="2359152"/>
            <a:ext cx="49194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risks named; most-surprising = T-09 (rogue insider alters the AI model)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 trade-off: fixing T-01 properly needs secure boot → a new 510(k)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 logged: SLA to rotate the shared support credential?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kept in version control so every change is diffable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55080" y="1536192"/>
            <a:ext cx="5285232" cy="4709160"/>
          </a:xfrm>
          <a:prstGeom prst="roundRect">
            <a:avLst>
              <a:gd name="adj" fmla="val 1553"/>
            </a:avLst>
          </a:prstGeom>
          <a:solidFill>
            <a:srgbClr val="F0F5F9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29400" y="178308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0" y="1755648"/>
            <a:ext cx="4279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FDA expects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47688" y="2404872"/>
            <a:ext cx="4700016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the model across the whole lifecycle — "maintain" is statutory (§524B(b)(2))</a:t>
            </a:r>
            <a:endParaRPr lang="en-US" sz="13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Re-trigger on: new feature, new interface, a disclosed vulnerability, an incident</a:t>
            </a:r>
            <a:endParaRPr lang="en-US" sz="13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end-to-end traceability: threat model ↔ risk assessment ↔ SBOM ↔ testing</a:t>
            </a:r>
            <a:endParaRPr lang="en-US" sz="13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per fielded version; track patch % and time-to-patch metrics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REGULATORY REALITY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FDA is looking for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1783080"/>
          </a:xfrm>
          <a:prstGeom prst="roundRect">
            <a:avLst>
              <a:gd name="adj" fmla="val 4615"/>
            </a:avLst>
          </a:prstGeom>
          <a:solidFill>
            <a:srgbClr val="F4F9FA"/>
          </a:solidFill>
          <a:ln w="12700">
            <a:solidFill>
              <a:srgbClr val="D6E7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91109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8745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Exploitability, not odds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46888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risk is judged on how exploitable you are — not on the probability of an attack.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355080" y="1600200"/>
            <a:ext cx="5486400" cy="1783080"/>
          </a:xfrm>
          <a:prstGeom prst="roundRect">
            <a:avLst>
              <a:gd name="adj" fmla="val 4615"/>
            </a:avLst>
          </a:prstGeom>
          <a:solidFill>
            <a:srgbClr val="F4F9FA"/>
          </a:solidFill>
          <a:ln w="12700">
            <a:solidFill>
              <a:srgbClr val="D6E7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47688" y="191109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0" y="18745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harm first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0" y="246888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of patient harm drives the risk, and can override a low score.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675888"/>
            <a:ext cx="5486400" cy="1783080"/>
          </a:xfrm>
          <a:prstGeom prst="roundRect">
            <a:avLst>
              <a:gd name="adj" fmla="val 4615"/>
            </a:avLst>
          </a:prstGeom>
          <a:solidFill>
            <a:srgbClr val="F4F9FA"/>
          </a:solidFill>
          <a:ln w="12700">
            <a:solidFill>
              <a:srgbClr val="D6E7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398678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1508760" y="395020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living document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454456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must be maintained across the device's whole lifecycle — not filed once.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355080" y="3675888"/>
            <a:ext cx="5486400" cy="1783080"/>
          </a:xfrm>
          <a:prstGeom prst="roundRect">
            <a:avLst>
              <a:gd name="adj" fmla="val 4615"/>
            </a:avLst>
          </a:prstGeom>
          <a:solidFill>
            <a:srgbClr val="F4F9FA"/>
          </a:solidFill>
          <a:ln w="12700">
            <a:solidFill>
              <a:srgbClr val="D6E7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47688" y="398678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0" y="395020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Traceability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315200" y="454456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 → risk assessment → SBOM → testing must all connect.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2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023360"/>
            <a:ext cx="4023360" cy="4023360"/>
          </a:xfrm>
          <a:prstGeom prst="ellipse">
            <a:avLst/>
          </a:prstGeom>
          <a:solidFill>
            <a:srgbClr val="0E3A5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are the attacker before the attacker.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49808" y="34747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problems before a patient gets hurt.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9808" y="53949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you're done: name your file threat-model-[team].docx and submit as instructed.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2026-07-17T18:07:56Z</dcterms:created>
  <dcterms:modified xsi:type="dcterms:W3CDTF">2026-07-17T18:07:56Z</dcterms:modified>
</cp:coreProperties>
</file>