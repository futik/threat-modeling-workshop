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023360"/>
            <a:ext cx="3108960" cy="3108960"/>
          </a:xfrm>
          <a:prstGeom prst="ellipse">
            <a:avLst/>
          </a:prstGeom>
          <a:solidFill>
            <a:srgbClr val="0B324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 SECURITY WORKSHOP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Modeling a Medical Device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58368" y="36118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threat modeling of the NeuroScan 3000 — a hybrid cloud + on-premise imaging system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MITRE Playbook for Threat Modeling Medical Devices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THREAT MODEL A MEDICAL DEVICE?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stakes are uniquely high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8105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30428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device can directly harm patients — a wrong diagnosis acted on, or care denied in an emergency.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184708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269480" y="18105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269480" y="230428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on hospitals have demonstrably delayed care and put patients at risk.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1463040" y="3776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427024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records are among the most valuable records on the black market.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55080" y="352044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0" y="381304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3776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269480" y="427024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2023, cybersecurity is a statutory FDA requirement — not optional.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modeling answers four questions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11096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110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19110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working on?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91640" y="262432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system — assets, entry points, and who might attack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47688" y="1911096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647688" y="19110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98080" y="19110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go wrong?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0" y="262432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threats as attacker stories, then assess their risk.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9867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986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91640" y="398678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going to do about it?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91640" y="470001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concrete mitigations and controls.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35508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39867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647688" y="3986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98080" y="398678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we do a good job?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498080" y="470001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completeness, present, and find the gaps.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IT SECURITY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medical devices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3832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risk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383280" y="214884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breach, downtime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98080" y="214884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harm, misdiagnosis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11064240" cy="749808"/>
          </a:xfrm>
          <a:prstGeom prst="rect">
            <a:avLst/>
          </a:prstGeom>
          <a:solidFill>
            <a:srgbClr val="F4F9FA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98648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289864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498080" y="289864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life-critical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648456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48456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364845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/ monthly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498080" y="364845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12–18 months (clearance)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398264"/>
            <a:ext cx="11064240" cy="749808"/>
          </a:xfrm>
          <a:prstGeom prst="rect">
            <a:avLst/>
          </a:prstGeom>
          <a:solidFill>
            <a:srgbClr val="F4F9FA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9826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383280" y="439826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GDPR, CCPA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498080" y="439826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FDA, EU MDR, IEC 81001-5-1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5148072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48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383280" y="51480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Opportunistic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498080" y="51480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nation-states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SCENARIO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NeuroScan 3000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MRI-based neurological imaging system. Part sits in the hospital; part runs in the cloud. You will threat model the whole system.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6766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unit + acquisition workstation (on-prem)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DICOM server (on-prem)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AI diagnostic service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vendor support channel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EMR — a partially-trusted dependency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0" y="1554480"/>
            <a:ext cx="3840480" cy="4206240"/>
          </a:xfrm>
          <a:prstGeom prst="roundRect">
            <a:avLst>
              <a:gd name="adj" fmla="val 2381"/>
            </a:avLst>
          </a:prstGeom>
          <a:solidFill>
            <a:srgbClr val="EAF3F5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01000" y="2057400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20574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unit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01000" y="2715768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271576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workstation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01000" y="3374136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0" y="337413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DICOM server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0" y="4114800"/>
            <a:ext cx="0" cy="320040"/>
          </a:xfrm>
          <a:prstGeom prst="line">
            <a:avLst/>
          </a:prstGeom>
          <a:noFill/>
          <a:ln w="19050">
            <a:solidFill>
              <a:srgbClr val="5F728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955280" y="4480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01000" y="480060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001000" y="48006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AI diagnostic service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TWO HOURS RUN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of show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148840" y="153619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0" y="1536192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medical device security — and the scenario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0428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48840" y="228600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· What are we working on?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0" y="2286000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assets, entry points, actors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48840" y="303580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 · What can go wrong?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0" y="3035808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stories + risk scoring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803904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0390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148840" y="378561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 · What will we do about it?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0" y="3785616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and trade-offs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553712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55371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148840" y="453542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· Did we do a good job?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4535424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+ group presentations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30352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303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148840" y="528523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Debrief &amp; wrap-up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15200" y="5285232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missed, and what's next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56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groups of 3–5. Different views make a better model.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856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template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shared worksheet as you go through Q1–Q4.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630168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specific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40740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threats and vague fixes don't help. Name the component.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55080" y="3630168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feedback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75120" y="440740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template at the end — an AI evaluator gives written feedback.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working on?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shared map of the system before you hunt for threats.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what's in scope — and what's out (and why).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assets worth protecting; mark each C, I, or A.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entry points — every door data or commands come through.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threat actors — insiders, ransomware, nation-states, vendors.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REFERENCE · LEAVE THIS UP WHILE YOU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· Example &amp; what the FDA expects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4919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scope: imaging unit + firmware, acquisition workstation, local DICOM server, cloud AI service, update delivery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hospital EMR (partially trusted); hospital network (threat boundary)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A-01: patient DICOM images (PHI) — Confidentiality + Integrity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point: remote support (VPN + SSH, shared credential) — HIGH RISK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36192"/>
            <a:ext cx="5285232" cy="4709160"/>
          </a:xfrm>
          <a:prstGeom prst="roundRect">
            <a:avLst>
              <a:gd name="adj" fmla="val 1553"/>
            </a:avLst>
          </a:prstGeom>
          <a:solidFill>
            <a:srgbClr val="F0F5F9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7830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755648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expects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7688" y="2404872"/>
            <a:ext cx="470001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whole medical device system — device + cloud + interoperable parts (§V.A.3)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third-party / COTS components now — they become your SBOM (§524B(b)(3))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assets &amp; entry points stable IDs — the anchor for later traceability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flag: a boundary drawn around the device only, ignoring the cloud service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go wrong?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like an attacker. Write ATTACKER STORIES.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10515600" cy="1554480"/>
          </a:xfrm>
          <a:prstGeom prst="roundRect">
            <a:avLst>
              <a:gd name="adj" fmla="val 7059"/>
            </a:avLst>
          </a:prstGeom>
          <a:solidFill>
            <a:srgbClr val="0E3A55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6888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[bad actor]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 want to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[do something bad]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via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[method]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so that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[goal].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As a rogue vendor technician, I want to change the AI model via the remote support channel, so that the system returns false negatives and patients are misdiagnosed.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for at least 8 stories across different parts of the system.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CONTINUED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score each story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Likelihood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Hard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Realistic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Easy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60520" y="21945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754880" y="155448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2240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Minor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Significant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Serious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0" y="1554480"/>
            <a:ext cx="2926080" cy="2286000"/>
          </a:xfrm>
          <a:prstGeom prst="roundRect">
            <a:avLst>
              <a:gd name="adj" fmla="val 36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0" y="1691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869680" y="22402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 Low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 Medium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  High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DECEC"/>
          </a:solidFill>
          <a:ln w="12700">
            <a:solidFill>
              <a:srgbClr val="E5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2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safety rule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story could directly harm a patient — wrong diagnosis acted on, device down in an emergency — mark it HIGH regardless of the score, and note why.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REFERENCE · LEAVE THIS UP WHILE YOU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 · Example &amp; what the FDA expects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a scored threat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4919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T-04 (Elevation of privilege): brute-force the no-MFA admin console on the hospital LAN → full workstation control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3 (no MFA, no rate-limit) × Impact 3 (full compromise) = 9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Patient-safety override: Yes → High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 is about exploitability — how feasible — not the odds of an attack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36192"/>
            <a:ext cx="5285232" cy="4709160"/>
          </a:xfrm>
          <a:prstGeom prst="roundRect">
            <a:avLst>
              <a:gd name="adj" fmla="val 1553"/>
            </a:avLst>
          </a:prstGeom>
          <a:solidFill>
            <a:srgbClr val="F0F5F9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7830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755648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expects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7688" y="2404872"/>
            <a:ext cx="470001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security risk on exploitability, not probability — not the ISO 14971 approach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severity-of-patient-harm axis → a controlled / uncontrolled call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patient-safety override can outrank the numeric score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risk scales independently of software / safety risk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going to do about it?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high-priority threat, define at least one concrete mitigation.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· Detective · Corrective · Compensating — pick the right kind.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specific: not "add encryption" but "enable TLS on the DICOM link."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residual risk that remains after the fix.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regulatory impact — could a change need a new FDA submission?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REFERENCE · LEAVE THIS UP WHILE YOU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 · Example &amp; what the FDA expects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a mitigation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4919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M-01 addresses T-04 &amp; T-07 — type: Preventive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TOTP MFA on the admin console; replace the shared support credential with per-engineer PKI certs; rate-limit logins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risk: credential theft still possible if the device is already compromised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note: software change only — likely no new clearance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36192"/>
            <a:ext cx="5285232" cy="4709160"/>
          </a:xfrm>
          <a:prstGeom prst="roundRect">
            <a:avLst>
              <a:gd name="adj" fmla="val 1553"/>
            </a:avLst>
          </a:prstGeom>
          <a:solidFill>
            <a:srgbClr val="F0F5F9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7830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755648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expects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7688" y="2404872"/>
            <a:ext cx="470001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assessment consumes the threat model; controls are evaluated against threats (§V.A.2)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pre- and post-mitigation (residual) risk, with acceptance criteria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let a security control create a new safety risk — the safety ↔ security interface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scoring method, not just the numbers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we do a good job?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threat model only has value if it's honest and complete.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completeness checklist in your template.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top 3 threats, your most surprising find, your hardest trade-off.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groups: ask "did you consider…?" — the goal is to find gaps.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outcome is another group spotting something you missed.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REFERENCE · LEAVE THIS UP WHILE YOU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· Example &amp; what the FDA expects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review &amp; lifecycle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4919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risks named; most-surprising = T-09 (rogue insider alters the AI model)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trade-off: fixing T-01 properly needs secure boot → a new 510(k)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 logged: SLA to rotate the shared support credential?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kept in version control so every change is diffable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36192"/>
            <a:ext cx="5285232" cy="4709160"/>
          </a:xfrm>
          <a:prstGeom prst="roundRect">
            <a:avLst>
              <a:gd name="adj" fmla="val 1553"/>
            </a:avLst>
          </a:prstGeom>
          <a:solidFill>
            <a:srgbClr val="F0F5F9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7830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755648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expects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7688" y="2404872"/>
            <a:ext cx="470001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the model across the whole lifecycle — "maintain" is statutory (§524B(b)(2))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Re-trigger on: new feature, new interface, a disclosed vulnerability, an incident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end-to-end traceability: threat model ↔ risk assessment ↔ SBOM ↔ testing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per fielded version; track patch % and time-to-patch metrics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is looking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1109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508760" y="1874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Exploitability, not odds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4688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risk is judged on how exploitable you are — not on the probability of an attack.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47688" y="191109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1874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harm first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0" y="24688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of patient harm drives the risk, and can override a low score.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98678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508760" y="3950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living document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54456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be maintained across the device's whole lifecycle — not filed once.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5508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47688" y="398678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3950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Traceability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15200" y="454456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→ risk assessment → SBOM → testing must all connect.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the attacker before the attacker.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49808" y="3474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problems before a patient gets hurt.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" y="53949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you're done: name your file threat-model-[team].docx and submit as instructed.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2026-07-17T17:49:36Z</dcterms:created>
  <dcterms:modified xsi:type="dcterms:W3CDTF">2026-07-17T17:49:36Z</dcterms:modified>
</cp:coreProperties>
</file>