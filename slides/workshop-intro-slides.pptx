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554480"/>
            <a:ext cx="4206240" cy="4206240"/>
          </a:xfrm>
          <a:prstGeom prst="ellipse">
            <a:avLst/>
          </a:prstGeom>
          <a:solidFill>
            <a:srgbClr val="0E3A55"/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023360"/>
            <a:ext cx="3108960" cy="3108960"/>
          </a:xfrm>
          <a:prstGeom prst="ellipse">
            <a:avLst/>
          </a:prstGeom>
          <a:solidFill>
            <a:srgbClr val="0B3247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DEVICE SECURITY WORKSHOP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 Modeling a Medical Device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58368" y="36118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D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threat modeling of the NeuroScan 3000 — a hybrid cloud + on-premise imaging system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the MITRE Playbook for Threat Modeling Medical Devices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THREAT MODEL A MEDICAL DEVICE?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stakes are uniquely high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1691640"/>
          </a:xfrm>
          <a:prstGeom prst="roundRect">
            <a:avLst>
              <a:gd name="adj" fmla="val 4865"/>
            </a:avLst>
          </a:prstGeom>
          <a:solidFill>
            <a:srgbClr val="EAF3F5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4708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181051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2304288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compromised device can directly harm patients — a wrong diagnosis acted on, or care denied in an emergency.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55080" y="1554480"/>
            <a:ext cx="5486400" cy="1691640"/>
          </a:xfrm>
          <a:prstGeom prst="roundRect">
            <a:avLst>
              <a:gd name="adj" fmla="val 4865"/>
            </a:avLst>
          </a:prstGeom>
          <a:solidFill>
            <a:srgbClr val="EAF3F5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184708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7269480" y="181051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Ransomware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269480" y="2304288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on hospitals have demonstrably delayed care and put patients at risk.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5486400" cy="1691640"/>
          </a:xfrm>
          <a:prstGeom prst="roundRect">
            <a:avLst>
              <a:gd name="adj" fmla="val 4865"/>
            </a:avLst>
          </a:prstGeom>
          <a:solidFill>
            <a:srgbClr val="EAF3F5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81304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1463040" y="37764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63040" y="4270248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records are among the most valuable records on the black market.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355080" y="3520440"/>
            <a:ext cx="5486400" cy="1691640"/>
          </a:xfrm>
          <a:prstGeom prst="roundRect">
            <a:avLst>
              <a:gd name="adj" fmla="val 4865"/>
            </a:avLst>
          </a:prstGeom>
          <a:solidFill>
            <a:srgbClr val="EAF3F5"/>
          </a:solidFill>
          <a:ln/>
        </p:spPr>
      </p:sp>
      <p:sp>
        <p:nvSpPr>
          <p:cNvPr id="17" name="Shape 15"/>
          <p:cNvSpPr/>
          <p:nvPr/>
        </p:nvSpPr>
        <p:spPr>
          <a:xfrm>
            <a:off x="6629400" y="381304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7269480" y="37764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law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269480" y="4270248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2023, cybersecurity is a statutory FDA requirement — not optional.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 modeling answers four questions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911096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9110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91640" y="191109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we working on?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691640" y="262432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the system — assets, entry points, and who might attack it.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55080" y="1600200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47688" y="1911096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647688" y="19110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498080" y="191109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can go wrong?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0" y="262432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threats as attacker stories, then assess their risk.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3675888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3986784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9867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91640" y="3986784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we going to do about it?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691640" y="4700016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concrete mitigations and controls.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355080" y="3675888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47688" y="3986784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647688" y="39867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98080" y="3986784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 we do a good job?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7498080" y="4700016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completeness, present, and find the gaps.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IT SECURITY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medical devices different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00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383280" y="1600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FE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IT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0" y="1600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Devices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11064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E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148840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risk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383280" y="214884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breach, downtime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498080" y="214884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harm, misdiagnosis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11064240" cy="749808"/>
          </a:xfrm>
          <a:prstGeom prst="rect">
            <a:avLst/>
          </a:prstGeom>
          <a:solidFill>
            <a:srgbClr val="F4F9FA"/>
          </a:solidFill>
          <a:ln w="12700">
            <a:solidFill>
              <a:srgbClr val="E3EE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898648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383280" y="2898648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498080" y="2898648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life-critical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3648456"/>
            <a:ext cx="11064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E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648456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Patching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3648456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/ monthly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498080" y="3648456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12–18 months (clearance)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48640" y="4398264"/>
            <a:ext cx="11064240" cy="749808"/>
          </a:xfrm>
          <a:prstGeom prst="rect">
            <a:avLst/>
          </a:prstGeom>
          <a:solidFill>
            <a:srgbClr val="F4F9FA"/>
          </a:solidFill>
          <a:ln w="12700">
            <a:solidFill>
              <a:srgbClr val="E3EE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398264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3383280" y="4398264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GDPR, CCPA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498080" y="4398264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FDA, EU MDR, IEC 81001-5-1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548640" y="5148072"/>
            <a:ext cx="11064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E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14807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3383280" y="514807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Opportunistic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498080" y="514807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nation-states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SCENARIO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NeuroScan 3000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MRI-based neurological imaging system. Part sits in the hospital; part runs in the cloud. You will threat model the whole system.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6766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 unit + acquisition workstation (on-prem)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DICOM server (on-prem)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AI diagnostic service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vendor support channel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EMR — a partially-trusted dependency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772400" y="1554480"/>
            <a:ext cx="3840480" cy="4206240"/>
          </a:xfrm>
          <a:prstGeom prst="roundRect">
            <a:avLst>
              <a:gd name="adj" fmla="val 2381"/>
            </a:avLst>
          </a:prstGeom>
          <a:solidFill>
            <a:srgbClr val="EAF3F5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0" y="1691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001000" y="2057400"/>
            <a:ext cx="33832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0" y="2057400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 unit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01000" y="2715768"/>
            <a:ext cx="33832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01000" y="2715768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workstation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01000" y="3374136"/>
            <a:ext cx="33832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01000" y="337413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DICOM server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692640" y="4114800"/>
            <a:ext cx="0" cy="320040"/>
          </a:xfrm>
          <a:prstGeom prst="line">
            <a:avLst/>
          </a:prstGeom>
          <a:noFill/>
          <a:ln w="19050">
            <a:solidFill>
              <a:srgbClr val="5F728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7955280" y="4480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01000" y="4800600"/>
            <a:ext cx="3383280" cy="777240"/>
          </a:xfrm>
          <a:prstGeom prst="roundRect">
            <a:avLst>
              <a:gd name="adj" fmla="val 7059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8001000" y="48006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AI diagnostic service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TWO HOURS RUN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of show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07253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148840" y="153619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0" y="1536192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medical device security — and the scenario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04288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07253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30428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148840" y="228600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 · What are we working on?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0" y="2286000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assets, entry points, actors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0725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5409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35m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148840" y="303580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 · What can go wrong?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0" y="3035808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stories + risk scoring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803904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07253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03904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148840" y="378561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 · What will we do about it?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315200" y="3785616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and trade-offs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553712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07253A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55371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148840" y="453542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Q4 · Did we do a good job?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315200" y="4535424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+ group presentations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5303520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07253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3035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10m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2148840" y="528523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Debrief &amp; wrap-up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315200" y="5285232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missed, and what's next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RULES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we'll 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1737360"/>
          </a:xfrm>
          <a:prstGeom prst="roundRect">
            <a:avLst>
              <a:gd name="adj" fmla="val 4737"/>
            </a:avLst>
          </a:prstGeom>
          <a:solidFill>
            <a:srgbClr val="EAF3F5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5623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groups of 3–5. Different views make a better model.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486400" cy="1737360"/>
          </a:xfrm>
          <a:prstGeom prst="roundRect">
            <a:avLst>
              <a:gd name="adj" fmla="val 4737"/>
            </a:avLst>
          </a:prstGeom>
          <a:solidFill>
            <a:srgbClr val="EAF3F5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85623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template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shared worksheet as you go through Q1–Q4.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630168"/>
            <a:ext cx="5486400" cy="1737360"/>
          </a:xfrm>
          <a:prstGeom prst="roundRect">
            <a:avLst>
              <a:gd name="adj" fmla="val 4737"/>
            </a:avLst>
          </a:prstGeom>
          <a:solidFill>
            <a:srgbClr val="EAF3F5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886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 specific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8680" y="440740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threats and vague fixes don't help. Name the component.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55080" y="3630168"/>
            <a:ext cx="5486400" cy="1737360"/>
          </a:xfrm>
          <a:prstGeom prst="roundRect">
            <a:avLst>
              <a:gd name="adj" fmla="val 4737"/>
            </a:avLst>
          </a:prstGeom>
          <a:solidFill>
            <a:srgbClr val="EAF3F5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0" y="3886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feedback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675120" y="440740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your template at the end — an AI evaluator gives written feedback.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0E3A55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48640"/>
            <a:ext cx="868680" cy="8686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37360" y="56692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we working on?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1691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FE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shared map of the system before you hunt for threats.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2697480"/>
            <a:ext cx="10607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what's in scope — and what's out (and why).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the assets worth protecting; mark each C, I, or A.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entry points — every door data or commands come through.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threat actors — insiders, ransomware, nation-states, vendors.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868680" cy="8686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737360" y="56692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can go wrong?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58368" y="16459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FE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like an attacker. Write ATTACKER STORIES.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10515600" cy="1554480"/>
          </a:xfrm>
          <a:prstGeom prst="roundRect">
            <a:avLst>
              <a:gd name="adj" fmla="val 7059"/>
            </a:avLst>
          </a:prstGeom>
          <a:solidFill>
            <a:srgbClr val="0E3A55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46888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BFE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</a:t>
            </a:r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[bad actor]</a:t>
            </a:r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BFE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I want to </a:t>
            </a:r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[do something bad]</a:t>
            </a:r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BFE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via </a:t>
            </a:r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[method]</a:t>
            </a:r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BFE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so that </a:t>
            </a:r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[goal].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D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As a rogue vendor technician, I want to change the AI model via the remote support channel, so that the system returns false negatives and patients are misdiagnosed.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for at least 8 stories across different parts of the system.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· CONTINUED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score each story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EAF3F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Likelihood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Hard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Realistic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Easy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60520" y="219456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F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4754880" y="155448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EAF3F5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224028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Minor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Significant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Serious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686800" y="1554480"/>
            <a:ext cx="2926080" cy="2286000"/>
          </a:xfrm>
          <a:prstGeom prst="roundRect">
            <a:avLst>
              <a:gd name="adj" fmla="val 36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0" y="1691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869680" y="22402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 Low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  Medium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6–9  High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16052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DECEC"/>
          </a:solidFill>
          <a:ln w="12700">
            <a:solidFill>
              <a:srgbClr val="E5A6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297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23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safety rule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47091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7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story could directly harm a patient — wrong diagnosis acted on, device down in an emergency — mark it HIGH regardless of the score, and note why.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0E3A55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48640"/>
            <a:ext cx="868680" cy="8686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37360" y="56692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we going to do about it?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1691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FE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high-priority threat, define at least one concrete mitigation.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2697480"/>
            <a:ext cx="10607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· Detective · Corrective · Compensating — pick the right kind.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specific: not "add encryption" but "enable TLS on the DICOM link."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residual risk that remains after the fix.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regulatory impact — could a change need a new FDA submission?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0E3A55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48640"/>
            <a:ext cx="868680" cy="8686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37360" y="56692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 we do a good job?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1691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FE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threat model only has value if it's honest and complete.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2697480"/>
            <a:ext cx="10607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completeness checklist in your template.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your top 3 threats, your most surprising find, your hardest trade-off.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groups: ask "did you consider…?" — the goal is to find gaps.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outcome is another group spotting something you missed.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REALITY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FDA is looking for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911096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508760" y="18745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Exploitability, not odds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46888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risk is judged on how exploitable you are — not on the probability of an attack.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55080" y="1600200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47688" y="1911096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0" y="18745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harm first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0" y="246888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of patient harm drives the risk, and can override a low score.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3675888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986784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1508760" y="39502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living document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54456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must be maintained across the device's whole lifecycle — not filed once.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355080" y="3675888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47688" y="3986784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0" y="39502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Traceability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315200" y="454456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 → risk assessment → SBOM → testing must all connect.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023360" cy="4023360"/>
          </a:xfrm>
          <a:prstGeom prst="ellipse">
            <a:avLst/>
          </a:prstGeom>
          <a:solidFill>
            <a:srgbClr val="0E3A5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the attacker before the attacker.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49808" y="34747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problems before a patient gets hurt.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49808" y="53949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C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you're done: name your file threat-model-[team].docx and submit as instructed.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2026-07-17T17:36:20Z</dcterms:created>
  <dcterms:modified xsi:type="dcterms:W3CDTF">2026-07-17T17:36:20Z</dcterms:modified>
</cp:coreProperties>
</file>